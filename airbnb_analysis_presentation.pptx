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57" r:id="rId5"/>
    <p:sldId id="272" r:id="rId6"/>
    <p:sldId id="265" r:id="rId7"/>
    <p:sldId id="273" r:id="rId8"/>
    <p:sldId id="275" r:id="rId9"/>
    <p:sldId id="258" r:id="rId10"/>
    <p:sldId id="267" r:id="rId11"/>
    <p:sldId id="264" r:id="rId12"/>
    <p:sldId id="277" r:id="rId13"/>
    <p:sldId id="269" r:id="rId14"/>
    <p:sldId id="278" r:id="rId15"/>
    <p:sldId id="276" r:id="rId16"/>
    <p:sldId id="262" r:id="rId17"/>
    <p:sldId id="279" r:id="rId1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5B0489-3856-4B32-8B9F-CA924CC22A35}" v="2" dt="2026-04-27T01:43:06.69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280" autoAdjust="0"/>
  </p:normalViewPr>
  <p:slideViewPr>
    <p:cSldViewPr>
      <p:cViewPr varScale="1">
        <p:scale>
          <a:sx n="81" d="100"/>
          <a:sy n="81" d="100"/>
        </p:scale>
        <p:origin x="936" y="96"/>
      </p:cViewPr>
      <p:guideLst>
        <p:guide pos="3839"/>
        <p:guide orient="horz" pos="2160"/>
      </p:guideLst>
    </p:cSldViewPr>
  </p:slideViewPr>
  <p:notesTextViewPr>
    <p:cViewPr>
      <p:scale>
        <a:sx n="1" d="1"/>
        <a:sy n="1" d="1"/>
      </p:scale>
      <p:origin x="0" y="0"/>
    </p:cViewPr>
  </p:notesTextViewPr>
  <p:notesViewPr>
    <p:cSldViewPr>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ie.Whitehead-Anthony" userId="a215add4-6eae-4c7a-913a-e4071b129f0b" providerId="ADAL" clId="{BD48FC4F-6F9B-48CB-8003-24B9A7BC158F}"/>
    <pc:docChg chg="custSel addSld modSld">
      <pc:chgData name="Hollie.Whitehead-Anthony" userId="a215add4-6eae-4c7a-913a-e4071b129f0b" providerId="ADAL" clId="{BD48FC4F-6F9B-48CB-8003-24B9A7BC158F}" dt="2026-04-27T01:43:14.957" v="620" actId="21"/>
      <pc:docMkLst>
        <pc:docMk/>
      </pc:docMkLst>
      <pc:sldChg chg="modSp mod">
        <pc:chgData name="Hollie.Whitehead-Anthony" userId="a215add4-6eae-4c7a-913a-e4071b129f0b" providerId="ADAL" clId="{BD48FC4F-6F9B-48CB-8003-24B9A7BC158F}" dt="2026-04-27T01:27:28.129" v="31" actId="20577"/>
        <pc:sldMkLst>
          <pc:docMk/>
          <pc:sldMk cId="3731768266" sldId="258"/>
        </pc:sldMkLst>
        <pc:spChg chg="mod">
          <ac:chgData name="Hollie.Whitehead-Anthony" userId="a215add4-6eae-4c7a-913a-e4071b129f0b" providerId="ADAL" clId="{BD48FC4F-6F9B-48CB-8003-24B9A7BC158F}" dt="2026-04-27T01:27:28.129" v="31" actId="20577"/>
          <ac:spMkLst>
            <pc:docMk/>
            <pc:sldMk cId="3731768266" sldId="258"/>
            <ac:spMk id="3" creationId="{00000000-0000-0000-0000-000000000000}"/>
          </ac:spMkLst>
        </pc:spChg>
      </pc:sldChg>
      <pc:sldChg chg="modSp mod">
        <pc:chgData name="Hollie.Whitehead-Anthony" userId="a215add4-6eae-4c7a-913a-e4071b129f0b" providerId="ADAL" clId="{BD48FC4F-6F9B-48CB-8003-24B9A7BC158F}" dt="2026-04-27T01:39:17.043" v="498" actId="20577"/>
        <pc:sldMkLst>
          <pc:docMk/>
          <pc:sldMk cId="2769088315" sldId="262"/>
        </pc:sldMkLst>
        <pc:spChg chg="mod">
          <ac:chgData name="Hollie.Whitehead-Anthony" userId="a215add4-6eae-4c7a-913a-e4071b129f0b" providerId="ADAL" clId="{BD48FC4F-6F9B-48CB-8003-24B9A7BC158F}" dt="2026-04-27T01:39:17.043" v="498" actId="20577"/>
          <ac:spMkLst>
            <pc:docMk/>
            <pc:sldMk cId="2769088315" sldId="262"/>
            <ac:spMk id="7" creationId="{5B5F75A1-E3FF-9B2C-B854-5232B9D9308A}"/>
          </ac:spMkLst>
        </pc:spChg>
      </pc:sldChg>
      <pc:sldChg chg="modSp mod">
        <pc:chgData name="Hollie.Whitehead-Anthony" userId="a215add4-6eae-4c7a-913a-e4071b129f0b" providerId="ADAL" clId="{BD48FC4F-6F9B-48CB-8003-24B9A7BC158F}" dt="2026-04-27T01:29:14.763" v="57" actId="20577"/>
        <pc:sldMkLst>
          <pc:docMk/>
          <pc:sldMk cId="2378379680" sldId="264"/>
        </pc:sldMkLst>
        <pc:spChg chg="mod">
          <ac:chgData name="Hollie.Whitehead-Anthony" userId="a215add4-6eae-4c7a-913a-e4071b129f0b" providerId="ADAL" clId="{BD48FC4F-6F9B-48CB-8003-24B9A7BC158F}" dt="2026-04-27T01:29:14.763" v="57" actId="20577"/>
          <ac:spMkLst>
            <pc:docMk/>
            <pc:sldMk cId="2378379680" sldId="264"/>
            <ac:spMk id="3" creationId="{0C62C3D6-E63D-24FC-B265-7BB32A7D924F}"/>
          </ac:spMkLst>
        </pc:spChg>
      </pc:sldChg>
      <pc:sldChg chg="modSp mod">
        <pc:chgData name="Hollie.Whitehead-Anthony" userId="a215add4-6eae-4c7a-913a-e4071b129f0b" providerId="ADAL" clId="{BD48FC4F-6F9B-48CB-8003-24B9A7BC158F}" dt="2026-04-27T01:28:23.153" v="36" actId="20577"/>
        <pc:sldMkLst>
          <pc:docMk/>
          <pc:sldMk cId="942682045" sldId="267"/>
        </pc:sldMkLst>
        <pc:spChg chg="mod">
          <ac:chgData name="Hollie.Whitehead-Anthony" userId="a215add4-6eae-4c7a-913a-e4071b129f0b" providerId="ADAL" clId="{BD48FC4F-6F9B-48CB-8003-24B9A7BC158F}" dt="2026-04-27T01:28:23.153" v="36" actId="20577"/>
          <ac:spMkLst>
            <pc:docMk/>
            <pc:sldMk cId="942682045" sldId="267"/>
            <ac:spMk id="3" creationId="{00000000-0000-0000-0000-000000000000}"/>
          </ac:spMkLst>
        </pc:spChg>
      </pc:sldChg>
      <pc:sldChg chg="modSp mod">
        <pc:chgData name="Hollie.Whitehead-Anthony" userId="a215add4-6eae-4c7a-913a-e4071b129f0b" providerId="ADAL" clId="{BD48FC4F-6F9B-48CB-8003-24B9A7BC158F}" dt="2026-04-27T01:31:59.358" v="117" actId="20577"/>
        <pc:sldMkLst>
          <pc:docMk/>
          <pc:sldMk cId="805031522" sldId="269"/>
        </pc:sldMkLst>
        <pc:spChg chg="mod">
          <ac:chgData name="Hollie.Whitehead-Anthony" userId="a215add4-6eae-4c7a-913a-e4071b129f0b" providerId="ADAL" clId="{BD48FC4F-6F9B-48CB-8003-24B9A7BC158F}" dt="2026-04-27T01:31:59.358" v="117" actId="20577"/>
          <ac:spMkLst>
            <pc:docMk/>
            <pc:sldMk cId="805031522" sldId="269"/>
            <ac:spMk id="6" creationId="{3D4B253C-01EB-4CE2-88CE-8E26312A4126}"/>
          </ac:spMkLst>
        </pc:spChg>
      </pc:sldChg>
      <pc:sldChg chg="modSp mod">
        <pc:chgData name="Hollie.Whitehead-Anthony" userId="a215add4-6eae-4c7a-913a-e4071b129f0b" providerId="ADAL" clId="{BD48FC4F-6F9B-48CB-8003-24B9A7BC158F}" dt="2026-04-27T01:30:24.188" v="107" actId="20577"/>
        <pc:sldMkLst>
          <pc:docMk/>
          <pc:sldMk cId="977551044" sldId="277"/>
        </pc:sldMkLst>
        <pc:spChg chg="mod">
          <ac:chgData name="Hollie.Whitehead-Anthony" userId="a215add4-6eae-4c7a-913a-e4071b129f0b" providerId="ADAL" clId="{BD48FC4F-6F9B-48CB-8003-24B9A7BC158F}" dt="2026-04-27T01:30:24.188" v="107" actId="20577"/>
          <ac:spMkLst>
            <pc:docMk/>
            <pc:sldMk cId="977551044" sldId="277"/>
            <ac:spMk id="5" creationId="{08E4D191-F4A9-993A-F2C4-52AD3BC8FCFB}"/>
          </ac:spMkLst>
        </pc:spChg>
      </pc:sldChg>
      <pc:sldChg chg="addSp delSp modSp new mod">
        <pc:chgData name="Hollie.Whitehead-Anthony" userId="a215add4-6eae-4c7a-913a-e4071b129f0b" providerId="ADAL" clId="{BD48FC4F-6F9B-48CB-8003-24B9A7BC158F}" dt="2026-04-27T01:43:14.957" v="620" actId="21"/>
        <pc:sldMkLst>
          <pc:docMk/>
          <pc:sldMk cId="721673757" sldId="279"/>
        </pc:sldMkLst>
        <pc:spChg chg="del">
          <ac:chgData name="Hollie.Whitehead-Anthony" userId="a215add4-6eae-4c7a-913a-e4071b129f0b" providerId="ADAL" clId="{BD48FC4F-6F9B-48CB-8003-24B9A7BC158F}" dt="2026-04-27T01:39:47.781" v="500" actId="21"/>
          <ac:spMkLst>
            <pc:docMk/>
            <pc:sldMk cId="721673757" sldId="279"/>
            <ac:spMk id="2" creationId="{3F7CF271-EEE3-A44F-8CED-6F6F285FEF07}"/>
          </ac:spMkLst>
        </pc:spChg>
        <pc:spChg chg="del">
          <ac:chgData name="Hollie.Whitehead-Anthony" userId="a215add4-6eae-4c7a-913a-e4071b129f0b" providerId="ADAL" clId="{BD48FC4F-6F9B-48CB-8003-24B9A7BC158F}" dt="2026-04-27T01:39:56.615" v="502" actId="21"/>
          <ac:spMkLst>
            <pc:docMk/>
            <pc:sldMk cId="721673757" sldId="279"/>
            <ac:spMk id="3" creationId="{ECF7E1A7-FB32-A4A4-4EFE-A93805E2DBBB}"/>
          </ac:spMkLst>
        </pc:spChg>
        <pc:spChg chg="del">
          <ac:chgData name="Hollie.Whitehead-Anthony" userId="a215add4-6eae-4c7a-913a-e4071b129f0b" providerId="ADAL" clId="{BD48FC4F-6F9B-48CB-8003-24B9A7BC158F}" dt="2026-04-27T01:39:53.154" v="501" actId="21"/>
          <ac:spMkLst>
            <pc:docMk/>
            <pc:sldMk cId="721673757" sldId="279"/>
            <ac:spMk id="4" creationId="{A1455945-4C7C-4A0B-6B97-BD35F0AA26C4}"/>
          </ac:spMkLst>
        </pc:spChg>
        <pc:spChg chg="add mod">
          <ac:chgData name="Hollie.Whitehead-Anthony" userId="a215add4-6eae-4c7a-913a-e4071b129f0b" providerId="ADAL" clId="{BD48FC4F-6F9B-48CB-8003-24B9A7BC158F}" dt="2026-04-27T01:41:50.164" v="617" actId="20577"/>
          <ac:spMkLst>
            <pc:docMk/>
            <pc:sldMk cId="721673757" sldId="279"/>
            <ac:spMk id="5" creationId="{D33C0D39-80B3-7E43-E755-24B8F813D676}"/>
          </ac:spMkLst>
        </pc:spChg>
        <pc:picChg chg="add del mod">
          <ac:chgData name="Hollie.Whitehead-Anthony" userId="a215add4-6eae-4c7a-913a-e4071b129f0b" providerId="ADAL" clId="{BD48FC4F-6F9B-48CB-8003-24B9A7BC158F}" dt="2026-04-27T01:43:14.957" v="620" actId="21"/>
          <ac:picMkLst>
            <pc:docMk/>
            <pc:sldMk cId="721673757" sldId="279"/>
            <ac:picMk id="7" creationId="{67FABF66-7155-B016-70FC-094171027B7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5A207F-0F91-42F2-96D0-049C6003623B}" type="datetimeFigureOut">
              <a:rPr lang="en-US"/>
              <a:t>4/26/2026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C567D4A-04CB-4EDF-8FB1-342A02FC8EC5}" type="slidenum">
              <a:rPr/>
              <a:t>‹#›</a:t>
            </a:fld>
            <a:endParaRPr/>
          </a:p>
        </p:txBody>
      </p:sp>
    </p:spTree>
    <p:extLst>
      <p:ext uri="{BB962C8B-B14F-4D97-AF65-F5344CB8AC3E}">
        <p14:creationId xmlns:p14="http://schemas.microsoft.com/office/powerpoint/2010/main" val="1580125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CC13F5-F2B1-464B-BE8F-27ABFBD2FBDE}" type="datetimeFigureOut">
              <a:rPr lang="en-US"/>
              <a:t>4/26/2026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61351F-DBB1-4664-ADA9-83BC7CB8848D}" type="slidenum">
              <a:rPr/>
              <a:t>‹#›</a:t>
            </a:fld>
            <a:endParaRPr/>
          </a:p>
        </p:txBody>
      </p:sp>
    </p:spTree>
    <p:extLst>
      <p:ext uri="{BB962C8B-B14F-4D97-AF65-F5344CB8AC3E}">
        <p14:creationId xmlns:p14="http://schemas.microsoft.com/office/powerpoint/2010/main" val="3642362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61351F-DBB1-4664-ADA9-83BC7CB8848D}" type="slidenum">
              <a:rPr lang="en-US" smtClean="0"/>
              <a:t>7</a:t>
            </a:fld>
            <a:endParaRPr lang="en-US"/>
          </a:p>
        </p:txBody>
      </p:sp>
    </p:spTree>
    <p:extLst>
      <p:ext uri="{BB962C8B-B14F-4D97-AF65-F5344CB8AC3E}">
        <p14:creationId xmlns:p14="http://schemas.microsoft.com/office/powerpoint/2010/main" val="2255883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D00EA6-0821-4AC5-933C-321AA6545349}" type="slidenum">
              <a:rPr lang="en-US" smtClean="0"/>
              <a:t>13</a:t>
            </a:fld>
            <a:endParaRPr lang="en-US" dirty="0"/>
          </a:p>
        </p:txBody>
      </p:sp>
    </p:spTree>
    <p:extLst>
      <p:ext uri="{BB962C8B-B14F-4D97-AF65-F5344CB8AC3E}">
        <p14:creationId xmlns:p14="http://schemas.microsoft.com/office/powerpoint/2010/main" val="4010772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93814" y="990600"/>
            <a:ext cx="8458200" cy="3200400"/>
          </a:xfrm>
        </p:spPr>
        <p:txBody>
          <a:bodyPr>
            <a:normAutofit/>
          </a:bodyPr>
          <a:lstStyle>
            <a:lvl1pPr>
              <a:defRPr sz="6000"/>
            </a:lvl1pPr>
          </a:lstStyle>
          <a:p>
            <a:r>
              <a:rPr lang="en-US"/>
              <a:t>Click to edit Master title style</a:t>
            </a:r>
            <a:endParaRPr/>
          </a:p>
        </p:txBody>
      </p:sp>
      <p:sp>
        <p:nvSpPr>
          <p:cNvPr id="3" name="Subtitle 2"/>
          <p:cNvSpPr>
            <a:spLocks noGrp="1"/>
          </p:cNvSpPr>
          <p:nvPr>
            <p:ph type="subTitle" idx="1"/>
          </p:nvPr>
        </p:nvSpPr>
        <p:spPr>
          <a:xfrm>
            <a:off x="1293813" y="4267200"/>
            <a:ext cx="8458200" cy="13716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6" name="Slide Number Placeholder 5"/>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2413538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6" name="Slide Number Placeholder 5"/>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159476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3" y="2057400"/>
            <a:ext cx="8458201" cy="2666999"/>
          </a:xfrm>
        </p:spPr>
        <p:txBody>
          <a:bodyPr anchor="b">
            <a:normAutofit/>
          </a:bodyPr>
          <a:lstStyle>
            <a:lvl1pPr algn="l">
              <a:defRPr sz="4800" b="0" i="0" cap="none" baseline="0"/>
            </a:lvl1pPr>
          </a:lstStyle>
          <a:p>
            <a:r>
              <a:rPr lang="en-US"/>
              <a:t>Click to edit Master title style</a:t>
            </a:r>
            <a:endParaRPr/>
          </a:p>
        </p:txBody>
      </p:sp>
      <p:sp>
        <p:nvSpPr>
          <p:cNvPr id="3" name="Text Placeholder 2"/>
          <p:cNvSpPr>
            <a:spLocks noGrp="1"/>
          </p:cNvSpPr>
          <p:nvPr>
            <p:ph type="body" idx="1"/>
          </p:nvPr>
        </p:nvSpPr>
        <p:spPr>
          <a:xfrm>
            <a:off x="1293813" y="4876800"/>
            <a:ext cx="8458201"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6" name="Slide Number Placeholder 5"/>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337862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2" y="1676400"/>
            <a:ext cx="4700016" cy="4495800"/>
          </a:xfrm>
        </p:spPr>
        <p:txBody>
          <a:bodyPr>
            <a:normAutofit/>
          </a:bodyPr>
          <a:lstStyle>
            <a:lvl1pPr>
              <a:defRPr sz="2400"/>
            </a:lvl1pPr>
            <a:lvl2pPr>
              <a:defRPr sz="2000"/>
            </a:lvl2pPr>
            <a:lvl3pPr>
              <a:defRPr sz="1800"/>
            </a:lvl3pPr>
            <a:lvl4pPr>
              <a:defRPr sz="1600"/>
            </a:lvl4pPr>
            <a:lvl5pPr>
              <a:defRPr sz="1600"/>
            </a:lvl5pPr>
            <a:lvl6pPr marL="1600200">
              <a:defRPr sz="1600"/>
            </a:lvl6pPr>
            <a:lvl7pPr marL="1874520">
              <a:defRPr sz="1600"/>
            </a:lvl7pPr>
            <a:lvl8pPr marL="2148840">
              <a:defRPr sz="1600"/>
            </a:lvl8pPr>
            <a:lvl9pPr marL="242316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02035" y="1676401"/>
            <a:ext cx="4700016" cy="4495800"/>
          </a:xfrm>
        </p:spPr>
        <p:txBody>
          <a:bodyPr>
            <a:normAutofit/>
          </a:bodyPr>
          <a:lstStyle>
            <a:lvl1pPr>
              <a:defRPr sz="2400"/>
            </a:lvl1pPr>
            <a:lvl2pPr>
              <a:defRPr sz="2000"/>
            </a:lvl2pPr>
            <a:lvl3pPr>
              <a:defRPr sz="1800"/>
            </a:lvl3pPr>
            <a:lvl4pPr>
              <a:defRPr sz="1600"/>
            </a:lvl4pPr>
            <a:lvl5pPr>
              <a:defRPr sz="1600"/>
            </a:lvl5pPr>
            <a:lvl6pPr marL="1600200">
              <a:defRPr sz="1600"/>
            </a:lvl6pPr>
            <a:lvl7pPr marL="1874520">
              <a:defRPr sz="1600"/>
            </a:lvl7pPr>
            <a:lvl8pPr marL="2148840">
              <a:defRPr sz="1600"/>
            </a:lvl8pPr>
            <a:lvl9pPr marL="242316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7" name="Slide Number Placeholder 6"/>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310746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93813" y="1676399"/>
            <a:ext cx="4701142" cy="762001"/>
          </a:xfrm>
        </p:spPr>
        <p:txBody>
          <a:bodyPr anchor="ctr">
            <a:noAutofit/>
          </a:bodyP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813" y="2516457"/>
            <a:ext cx="4701142" cy="3655743"/>
          </a:xfrm>
        </p:spPr>
        <p:txBody>
          <a:bodyPr/>
          <a:lstStyle>
            <a:lvl1pPr>
              <a:defRPr sz="2200"/>
            </a:lvl1pPr>
            <a:lvl2pPr>
              <a:defRPr sz="2000"/>
            </a:lvl2pPr>
            <a:lvl3pPr>
              <a:defRPr sz="1800"/>
            </a:lvl3pPr>
            <a:lvl4pPr>
              <a:defRPr sz="1600"/>
            </a:lvl4pPr>
            <a:lvl5pPr>
              <a:defRPr sz="1600"/>
            </a:lvl5pPr>
            <a:lvl6pPr marL="1600200">
              <a:defRPr sz="1600"/>
            </a:lvl6pPr>
            <a:lvl7pPr marL="1874520">
              <a:defRPr sz="1600"/>
            </a:lvl7pPr>
            <a:lvl8pPr marL="2148840">
              <a:defRPr sz="1600"/>
            </a:lvl8pPr>
            <a:lvl9pPr marL="242316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91754" y="1676399"/>
            <a:ext cx="4703259" cy="762001"/>
          </a:xfrm>
        </p:spPr>
        <p:txBody>
          <a:bodyPr anchor="ctr">
            <a:noAutofit/>
          </a:bodyP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516457"/>
            <a:ext cx="4703259" cy="3655743"/>
          </a:xfrm>
        </p:spPr>
        <p:txBody>
          <a:bodyPr/>
          <a:lstStyle>
            <a:lvl1pPr>
              <a:defRPr sz="2200"/>
            </a:lvl1pPr>
            <a:lvl2pPr>
              <a:defRPr sz="2000"/>
            </a:lvl2pPr>
            <a:lvl3pPr>
              <a:defRPr sz="1800"/>
            </a:lvl3pPr>
            <a:lvl4pPr>
              <a:defRPr sz="1600"/>
            </a:lvl4pPr>
            <a:lvl5pPr>
              <a:defRPr sz="1600"/>
            </a:lvl5pPr>
            <a:lvl6pPr marL="1600200">
              <a:defRPr sz="1600"/>
            </a:lvl6pPr>
            <a:lvl7pPr marL="1874520">
              <a:defRPr sz="1600"/>
            </a:lvl7pPr>
            <a:lvl8pPr marL="2148840">
              <a:defRPr sz="1600"/>
            </a:lvl8pPr>
            <a:lvl9pPr marL="242316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8" name="Footer Placeholder 7"/>
          <p:cNvSpPr>
            <a:spLocks noGrp="1"/>
          </p:cNvSpPr>
          <p:nvPr>
            <p:ph type="ftr" sz="quarter" idx="11"/>
          </p:nvPr>
        </p:nvSpPr>
        <p:spPr/>
        <p:txBody>
          <a:bodyPr/>
          <a:lstStyle>
            <a:lvl1pPr>
              <a:defRPr sz="1100"/>
            </a:lvl1pPr>
          </a:lstStyle>
          <a:p>
            <a:endParaRPr lang="en-US"/>
          </a:p>
        </p:txBody>
      </p:sp>
      <p:sp>
        <p:nvSpPr>
          <p:cNvPr id="9" name="Slide Number Placeholder 8"/>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168855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4" name="Footer Placeholder 3"/>
          <p:cNvSpPr>
            <a:spLocks noGrp="1"/>
          </p:cNvSpPr>
          <p:nvPr>
            <p:ph type="ftr" sz="quarter" idx="11"/>
          </p:nvPr>
        </p:nvSpPr>
        <p:spPr/>
        <p:txBody>
          <a:bodyPr/>
          <a:lstStyle>
            <a:lvl1pPr>
              <a:defRPr sz="1100"/>
            </a:lvl1pPr>
          </a:lstStyle>
          <a:p>
            <a:endParaRPr lang="en-US"/>
          </a:p>
        </p:txBody>
      </p:sp>
      <p:sp>
        <p:nvSpPr>
          <p:cNvPr id="5" name="Slide Number Placeholder 4"/>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326159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dirty="0"/>
          </a:p>
        </p:txBody>
      </p:sp>
      <p:sp>
        <p:nvSpPr>
          <p:cNvPr id="3" name="Footer Placeholder 2"/>
          <p:cNvSpPr>
            <a:spLocks noGrp="1"/>
          </p:cNvSpPr>
          <p:nvPr>
            <p:ph type="ftr" sz="quarter" idx="11"/>
          </p:nvPr>
        </p:nvSpPr>
        <p:spPr/>
        <p:txBody>
          <a:bodyPr/>
          <a:lstStyle>
            <a:lvl1pPr>
              <a:defRPr sz="1100"/>
            </a:lvl1pPr>
          </a:lstStyle>
          <a:p>
            <a:endParaRPr lang="en-US"/>
          </a:p>
        </p:txBody>
      </p:sp>
      <p:sp>
        <p:nvSpPr>
          <p:cNvPr id="4" name="Slide Number Placeholder 3"/>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743399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0811" y="1676400"/>
            <a:ext cx="3810000" cy="2438400"/>
          </a:xfrm>
        </p:spPr>
        <p:txBody>
          <a:bodyPr anchor="b">
            <a:normAutofit/>
          </a:bodyPr>
          <a:lstStyle>
            <a:lvl1pPr algn="l">
              <a:defRPr sz="3200" b="0"/>
            </a:lvl1pPr>
          </a:lstStyle>
          <a:p>
            <a:r>
              <a:rPr lang="en-US"/>
              <a:t>Click to edit Master title style</a:t>
            </a:r>
            <a:endParaRPr dirty="0"/>
          </a:p>
        </p:txBody>
      </p:sp>
      <p:sp>
        <p:nvSpPr>
          <p:cNvPr id="3" name="Content Placeholder 2"/>
          <p:cNvSpPr>
            <a:spLocks noGrp="1"/>
          </p:cNvSpPr>
          <p:nvPr>
            <p:ph idx="1"/>
          </p:nvPr>
        </p:nvSpPr>
        <p:spPr>
          <a:xfrm>
            <a:off x="1293813" y="685800"/>
            <a:ext cx="61722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770811" y="4191000"/>
            <a:ext cx="3810000" cy="15240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a:p>
        </p:txBody>
      </p:sp>
      <p:sp>
        <p:nvSpPr>
          <p:cNvPr id="6" name="Footer Placeholder 5"/>
          <p:cNvSpPr>
            <a:spLocks noGrp="1"/>
          </p:cNvSpPr>
          <p:nvPr>
            <p:ph type="ftr" sz="quarter" idx="11"/>
          </p:nvPr>
        </p:nvSpPr>
        <p:spPr/>
        <p:txBody>
          <a:bodyPr/>
          <a:lstStyle>
            <a:lvl1pPr>
              <a:defRPr sz="1100"/>
            </a:lvl1pPr>
          </a:lstStyle>
          <a:p>
            <a:endParaRPr lang="en-US"/>
          </a:p>
        </p:txBody>
      </p:sp>
      <p:sp>
        <p:nvSpPr>
          <p:cNvPr id="7" name="Slide Number Placeholder 6"/>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82885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70812" y="1676400"/>
            <a:ext cx="3810000" cy="2438400"/>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522412" y="0"/>
            <a:ext cx="5943601" cy="6858000"/>
          </a:xfrm>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770812" y="4191000"/>
            <a:ext cx="3810000" cy="15240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3949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1600200">
              <a:defRPr/>
            </a:lvl6pPr>
            <a:lvl7pPr marL="1874520">
              <a:defRPr/>
            </a:lvl7pPr>
            <a:lvl8pPr marL="2148840">
              <a:defRPr/>
            </a:lvl8pPr>
            <a:lvl9pPr marL="242316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6" name="Slide Number Placeholder 5"/>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2857575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52014" y="381000"/>
            <a:ext cx="1904998" cy="57912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93814" y="381000"/>
            <a:ext cx="8305800" cy="57912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sz="1100"/>
            </a:lvl1pPr>
          </a:lstStyle>
          <a:p>
            <a:fld id="{3CD9712D-992A-4AB1-A5C2-575F75921AA2}" type="datetimeFigureOut">
              <a:rPr lang="en-US" smtClean="0"/>
              <a:pPr/>
              <a:t>4/26/2026</a:t>
            </a:fld>
            <a:endParaRPr lang="en-US"/>
          </a:p>
        </p:txBody>
      </p:sp>
      <p:sp>
        <p:nvSpPr>
          <p:cNvPr id="5" name="Footer Placeholder 4"/>
          <p:cNvSpPr>
            <a:spLocks noGrp="1"/>
          </p:cNvSpPr>
          <p:nvPr>
            <p:ph type="ftr" sz="quarter" idx="11"/>
          </p:nvPr>
        </p:nvSpPr>
        <p:spPr/>
        <p:txBody>
          <a:bodyPr/>
          <a:lstStyle>
            <a:lvl1pPr>
              <a:defRPr sz="1100"/>
            </a:lvl1pPr>
          </a:lstStyle>
          <a:p>
            <a:endParaRPr lang="en-US"/>
          </a:p>
        </p:txBody>
      </p:sp>
      <p:sp>
        <p:nvSpPr>
          <p:cNvPr id="6" name="Slide Number Placeholder 5"/>
          <p:cNvSpPr>
            <a:spLocks noGrp="1"/>
          </p:cNvSpPr>
          <p:nvPr>
            <p:ph type="sldNum" sz="quarter" idx="12"/>
          </p:nvPr>
        </p:nvSpPr>
        <p:spPr/>
        <p:txBody>
          <a:bodyPr/>
          <a:lstStyle>
            <a:lvl1pPr>
              <a:defRPr sz="1100"/>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213226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836614" y="0"/>
            <a:ext cx="11352212" cy="6858000"/>
          </a:xfrm>
          <a:prstGeom prst="rect">
            <a:avLst/>
          </a:prstGeom>
          <a:gradFill>
            <a:gsLst>
              <a:gs pos="0">
                <a:schemeClr val="bg1">
                  <a:alpha val="60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293813" y="381000"/>
            <a:ext cx="9601200" cy="11430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293813" y="1676400"/>
            <a:ext cx="9601200" cy="4495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71781" y="6356351"/>
            <a:ext cx="2844059" cy="365125"/>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fld id="{3CD9712D-992A-4AB1-A5C2-575F75921AA2}" type="datetimeFigureOut">
              <a:rPr lang="en-US" smtClean="0"/>
              <a:pPr/>
              <a:t>4/26/2026</a:t>
            </a:fld>
            <a:endParaRPr lang="en-US" dirty="0"/>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100">
                <a:solidFill>
                  <a:schemeClr val="tx1">
                    <a:lumMod val="90000"/>
                    <a:lumOff val="10000"/>
                  </a:schemeClr>
                </a:solidFill>
              </a:defRPr>
            </a:lvl1pPr>
          </a:lstStyle>
          <a:p>
            <a:endParaRPr lang="en-US"/>
          </a:p>
        </p:txBody>
      </p:sp>
      <p:sp>
        <p:nvSpPr>
          <p:cNvPr id="6" name="Slide Number Placeholder 5"/>
          <p:cNvSpPr>
            <a:spLocks noGrp="1"/>
          </p:cNvSpPr>
          <p:nvPr>
            <p:ph type="sldNum" sz="quarter" idx="4"/>
          </p:nvPr>
        </p:nvSpPr>
        <p:spPr>
          <a:xfrm>
            <a:off x="8051225" y="6356351"/>
            <a:ext cx="2844059" cy="365125"/>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81FEFA0A-2F20-4B60-98C6-5FFDA469AA1C}" type="slidenum">
              <a:rPr lang="en-US" smtClean="0"/>
              <a:pPr/>
              <a:t>‹#›</a:t>
            </a:fld>
            <a:endParaRPr lang="en-US"/>
          </a:p>
        </p:txBody>
      </p:sp>
    </p:spTree>
    <p:extLst>
      <p:ext uri="{BB962C8B-B14F-4D97-AF65-F5344CB8AC3E}">
        <p14:creationId xmlns:p14="http://schemas.microsoft.com/office/powerpoint/2010/main" val="3528721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3838" indent="-228600" algn="l" defTabSz="914400" rtl="0" eaLnBrk="1" latinLnBrk="0" hangingPunct="1">
        <a:lnSpc>
          <a:spcPct val="90000"/>
        </a:lnSpc>
        <a:spcBef>
          <a:spcPts val="1600"/>
        </a:spcBef>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3pPr>
      <a:lvl4pPr marL="1051560" indent="-228600" algn="l" defTabSz="914400" rtl="0" eaLnBrk="1" latinLnBrk="0" hangingPunct="1">
        <a:lnSpc>
          <a:spcPct val="90000"/>
        </a:lnSpc>
        <a:spcBef>
          <a:spcPts val="600"/>
        </a:spcBef>
        <a:buFont typeface="Euphemia"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600"/>
        </a:spcBef>
        <a:buFont typeface="Euphemia" pitchFamily="34" charset="0"/>
        <a:buChar char="–"/>
        <a:defRPr sz="1600" kern="1200">
          <a:solidFill>
            <a:schemeClr val="tx1"/>
          </a:solidFill>
          <a:latin typeface="+mn-lt"/>
          <a:ea typeface="+mn-ea"/>
          <a:cs typeface="+mn-cs"/>
        </a:defRPr>
      </a:lvl5pPr>
      <a:lvl6pPr marL="160020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6pPr>
      <a:lvl7pPr marL="187452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7pPr>
      <a:lvl8pPr marL="214884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8pPr>
      <a:lvl9pPr marL="2423160" indent="-228600" algn="l" defTabSz="914400" rtl="0" eaLnBrk="1" latinLnBrk="0" hangingPunct="1">
        <a:spcBef>
          <a:spcPts val="600"/>
        </a:spcBef>
        <a:buFont typeface="Euphemia"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14" y="990600"/>
            <a:ext cx="8545014" cy="3200400"/>
          </a:xfrm>
        </p:spPr>
        <p:txBody>
          <a:bodyPr>
            <a:normAutofit/>
          </a:bodyPr>
          <a:lstStyle/>
          <a:p>
            <a:r>
              <a:rPr lang="en-US" sz="4800" dirty="0"/>
              <a:t>Data Analysis Process Project</a:t>
            </a:r>
          </a:p>
        </p:txBody>
      </p:sp>
      <p:sp>
        <p:nvSpPr>
          <p:cNvPr id="3" name="Subtitle 2"/>
          <p:cNvSpPr>
            <a:spLocks noGrp="1"/>
          </p:cNvSpPr>
          <p:nvPr>
            <p:ph type="subTitle" idx="1"/>
          </p:nvPr>
        </p:nvSpPr>
        <p:spPr/>
        <p:txBody>
          <a:bodyPr>
            <a:normAutofit/>
          </a:bodyPr>
          <a:lstStyle/>
          <a:p>
            <a:r>
              <a:rPr lang="en-US" sz="2200" dirty="0"/>
              <a:t>Exploring </a:t>
            </a:r>
            <a:r>
              <a:rPr lang="en-US" sz="2200" dirty="0" err="1"/>
              <a:t>Kaggles</a:t>
            </a:r>
            <a:r>
              <a:rPr lang="en-US" sz="2200" dirty="0"/>
              <a:t> Airbnb dataset by Hollie Whitehead Anthony</a:t>
            </a:r>
          </a:p>
        </p:txBody>
      </p:sp>
    </p:spTree>
    <p:extLst>
      <p:ext uri="{BB962C8B-B14F-4D97-AF65-F5344CB8AC3E}">
        <p14:creationId xmlns:p14="http://schemas.microsoft.com/office/powerpoint/2010/main" val="319817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 will guide you through my analysis process of Airbnb activity in New York City.</a:t>
            </a:r>
          </a:p>
        </p:txBody>
      </p:sp>
      <p:sp>
        <p:nvSpPr>
          <p:cNvPr id="14" name="Content Placeholder 13"/>
          <p:cNvSpPr>
            <a:spLocks noGrp="1"/>
          </p:cNvSpPr>
          <p:nvPr>
            <p:ph idx="1"/>
          </p:nvPr>
        </p:nvSpPr>
        <p:spPr>
          <a:xfrm>
            <a:off x="1293813" y="2564904"/>
            <a:ext cx="9601200" cy="3607296"/>
          </a:xfrm>
        </p:spPr>
        <p:txBody>
          <a:bodyPr/>
          <a:lstStyle/>
          <a:p>
            <a:r>
              <a:rPr lang="en-US" dirty="0"/>
              <a:t>I will explore specific features of this vast dataset including:</a:t>
            </a:r>
          </a:p>
          <a:p>
            <a:pPr lvl="1"/>
            <a:r>
              <a:rPr lang="en-US" dirty="0"/>
              <a:t>Room type (whole house, private room, and shared room)</a:t>
            </a:r>
          </a:p>
          <a:p>
            <a:pPr lvl="1"/>
            <a:r>
              <a:rPr lang="en-US" dirty="0"/>
              <a:t>Price per night.</a:t>
            </a:r>
          </a:p>
          <a:p>
            <a:pPr lvl="1"/>
            <a:r>
              <a:rPr lang="en-US" dirty="0"/>
              <a:t>Number of reviews</a:t>
            </a:r>
          </a:p>
          <a:p>
            <a:pPr lvl="1"/>
            <a:r>
              <a:rPr lang="en-US" dirty="0"/>
              <a:t>Availability</a:t>
            </a:r>
          </a:p>
          <a:p>
            <a:pPr lvl="1"/>
            <a:r>
              <a:rPr lang="en-US" dirty="0"/>
              <a:t>Neighborhood where the listing is located</a:t>
            </a:r>
          </a:p>
        </p:txBody>
      </p:sp>
    </p:spTree>
    <p:extLst>
      <p:ext uri="{BB962C8B-B14F-4D97-AF65-F5344CB8AC3E}">
        <p14:creationId xmlns:p14="http://schemas.microsoft.com/office/powerpoint/2010/main" val="127082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 us begin with our question:</a:t>
            </a:r>
          </a:p>
        </p:txBody>
      </p:sp>
      <p:sp>
        <p:nvSpPr>
          <p:cNvPr id="4" name="Content Placeholder 3">
            <a:extLst>
              <a:ext uri="{FF2B5EF4-FFF2-40B4-BE49-F238E27FC236}">
                <a16:creationId xmlns:a16="http://schemas.microsoft.com/office/drawing/2014/main" id="{D9C36EAC-9743-4AEE-0CC2-81F2DD18A2F1}"/>
              </a:ext>
            </a:extLst>
          </p:cNvPr>
          <p:cNvSpPr>
            <a:spLocks noGrp="1"/>
          </p:cNvSpPr>
          <p:nvPr>
            <p:ph idx="1"/>
          </p:nvPr>
        </p:nvSpPr>
        <p:spPr/>
        <p:txBody>
          <a:bodyPr/>
          <a:lstStyle/>
          <a:p>
            <a:pPr marL="0" indent="0">
              <a:buNone/>
            </a:pPr>
            <a:r>
              <a:rPr lang="en-US" dirty="0"/>
              <a:t>How does the number of reviews relate to the price, availability, or other features of the listing?</a:t>
            </a:r>
          </a:p>
          <a:p>
            <a:pPr marL="0" indent="0">
              <a:buNone/>
            </a:pPr>
            <a:endParaRPr lang="en-US" dirty="0"/>
          </a:p>
          <a:p>
            <a:pPr marL="0" indent="0">
              <a:buNone/>
            </a:pPr>
            <a:r>
              <a:rPr lang="en-US" dirty="0"/>
              <a:t>Let the analysis begin!</a:t>
            </a:r>
          </a:p>
          <a:p>
            <a:pPr marL="342900" indent="-342900"/>
            <a:r>
              <a:rPr lang="en-US" dirty="0"/>
              <a:t>I loaded all my python libraries and did a brief inspection of the entire dataset. For efficiency I collected only the features I was interested in and created a smaller dataset to work from.</a:t>
            </a:r>
          </a:p>
          <a:p>
            <a:pPr marL="0" indent="0">
              <a:buNone/>
            </a:pPr>
            <a:endParaRPr lang="en-CA" dirty="0"/>
          </a:p>
        </p:txBody>
      </p:sp>
    </p:spTree>
    <p:extLst>
      <p:ext uri="{BB962C8B-B14F-4D97-AF65-F5344CB8AC3E}">
        <p14:creationId xmlns:p14="http://schemas.microsoft.com/office/powerpoint/2010/main" val="158567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Inspection:</a:t>
            </a:r>
          </a:p>
        </p:txBody>
      </p:sp>
      <p:sp>
        <p:nvSpPr>
          <p:cNvPr id="5" name="Content Placeholder 4"/>
          <p:cNvSpPr>
            <a:spLocks noGrp="1"/>
          </p:cNvSpPr>
          <p:nvPr>
            <p:ph sz="half" idx="1"/>
          </p:nvPr>
        </p:nvSpPr>
        <p:spPr/>
        <p:txBody>
          <a:bodyPr/>
          <a:lstStyle/>
          <a:p>
            <a:r>
              <a:rPr lang="en-US" dirty="0"/>
              <a:t>I looked at statistical information.</a:t>
            </a:r>
          </a:p>
          <a:p>
            <a:r>
              <a:rPr lang="en-US" dirty="0"/>
              <a:t>Structure of the data and its types</a:t>
            </a:r>
          </a:p>
          <a:p>
            <a:r>
              <a:rPr lang="en-US" dirty="0"/>
              <a:t>Checked for null values</a:t>
            </a:r>
          </a:p>
          <a:p>
            <a:r>
              <a:rPr lang="en-US" dirty="0"/>
              <a:t>Ensured value consistency and no negative values</a:t>
            </a:r>
          </a:p>
          <a:p>
            <a:r>
              <a:rPr lang="en-US" dirty="0"/>
              <a:t>Distribution with skew</a:t>
            </a:r>
          </a:p>
          <a:p>
            <a:r>
              <a:rPr lang="en-US" dirty="0"/>
              <a:t>Ended with checking for duplicates.</a:t>
            </a:r>
          </a:p>
          <a:p>
            <a:endParaRPr lang="en-US" dirty="0"/>
          </a:p>
        </p:txBody>
      </p:sp>
      <p:pic>
        <p:nvPicPr>
          <p:cNvPr id="4" name="Picture 3" descr="The Statue of Liberty in New York">
            <a:extLst>
              <a:ext uri="{FF2B5EF4-FFF2-40B4-BE49-F238E27FC236}">
                <a16:creationId xmlns:a16="http://schemas.microsoft.com/office/drawing/2014/main" id="{A801830D-FEE2-7B74-885C-F5BC478F23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6790" y="1676400"/>
            <a:ext cx="5486400" cy="3429000"/>
          </a:xfrm>
          <a:prstGeom prst="rect">
            <a:avLst/>
          </a:prstGeom>
        </p:spPr>
      </p:pic>
    </p:spTree>
    <p:extLst>
      <p:ext uri="{BB962C8B-B14F-4D97-AF65-F5344CB8AC3E}">
        <p14:creationId xmlns:p14="http://schemas.microsoft.com/office/powerpoint/2010/main" val="323130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Data Cleaning</a:t>
            </a:r>
          </a:p>
        </p:txBody>
      </p:sp>
      <p:sp>
        <p:nvSpPr>
          <p:cNvPr id="5" name="Content Placeholder 4"/>
          <p:cNvSpPr>
            <a:spLocks noGrp="1"/>
          </p:cNvSpPr>
          <p:nvPr>
            <p:ph sz="half" idx="1"/>
          </p:nvPr>
        </p:nvSpPr>
        <p:spPr>
          <a:xfrm>
            <a:off x="2538726" y="2492896"/>
            <a:ext cx="4700016" cy="3679304"/>
          </a:xfrm>
        </p:spPr>
        <p:txBody>
          <a:bodyPr/>
          <a:lstStyle/>
          <a:p>
            <a:pPr marL="0" indent="0">
              <a:buNone/>
            </a:pPr>
            <a:r>
              <a:rPr lang="en-US" dirty="0"/>
              <a:t>All that inspecting and I only uncovered duplicates! I removed approximately 25% of my data. It is now squeaky clean and ready to analyze. </a:t>
            </a:r>
          </a:p>
          <a:p>
            <a:pPr marL="0" indent="0">
              <a:buNone/>
            </a:pPr>
            <a:endParaRPr lang="en-US" dirty="0"/>
          </a:p>
          <a:p>
            <a:pPr marL="342900" indent="-342900">
              <a:buFont typeface="Wingdings" panose="05000000000000000000" pitchFamily="2" charset="2"/>
              <a:buChar char="v"/>
            </a:pPr>
            <a:r>
              <a:rPr lang="en-US" dirty="0"/>
              <a:t>Made note that the distribution was highly right tailed for my price column.</a:t>
            </a:r>
          </a:p>
        </p:txBody>
      </p:sp>
      <p:pic>
        <p:nvPicPr>
          <p:cNvPr id="10" name="Graphic 9" descr="Mop and bucket with solid fill">
            <a:extLst>
              <a:ext uri="{FF2B5EF4-FFF2-40B4-BE49-F238E27FC236}">
                <a16:creationId xmlns:a16="http://schemas.microsoft.com/office/drawing/2014/main" id="{2ACD9013-C8FF-EBC3-C9E6-37A4010CA0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6580" y="2276872"/>
            <a:ext cx="3481536" cy="3481536"/>
          </a:xfrm>
          <a:prstGeom prst="rect">
            <a:avLst/>
          </a:prstGeom>
        </p:spPr>
      </p:pic>
    </p:spTree>
    <p:extLst>
      <p:ext uri="{BB962C8B-B14F-4D97-AF65-F5344CB8AC3E}">
        <p14:creationId xmlns:p14="http://schemas.microsoft.com/office/powerpoint/2010/main" val="154747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828" y="260648"/>
            <a:ext cx="9937104" cy="2160240"/>
          </a:xfrm>
        </p:spPr>
        <p:txBody>
          <a:bodyPr>
            <a:normAutofit/>
          </a:bodyPr>
          <a:lstStyle/>
          <a:p>
            <a:r>
              <a:rPr lang="en-US" dirty="0"/>
              <a:t>Univariate analysis:</a:t>
            </a:r>
            <a:br>
              <a:rPr lang="en-US" dirty="0"/>
            </a:br>
            <a:br>
              <a:rPr lang="en-US" dirty="0"/>
            </a:br>
            <a:endParaRPr lang="en-US" dirty="0"/>
          </a:p>
        </p:txBody>
      </p:sp>
      <p:sp>
        <p:nvSpPr>
          <p:cNvPr id="3" name="Text Placeholder 2"/>
          <p:cNvSpPr>
            <a:spLocks noGrp="1"/>
          </p:cNvSpPr>
          <p:nvPr>
            <p:ph type="body" idx="1"/>
          </p:nvPr>
        </p:nvSpPr>
        <p:spPr>
          <a:xfrm>
            <a:off x="837828" y="1556792"/>
            <a:ext cx="4176463" cy="4968552"/>
          </a:xfrm>
        </p:spPr>
        <p:txBody>
          <a:bodyPr>
            <a:normAutofit/>
          </a:bodyPr>
          <a:lstStyle/>
          <a:p>
            <a:r>
              <a:rPr lang="en-US" dirty="0"/>
              <a:t>I created histograms and box plots to SEE what my data looks like.</a:t>
            </a:r>
          </a:p>
          <a:p>
            <a:endParaRPr lang="en-US" dirty="0"/>
          </a:p>
          <a:p>
            <a:r>
              <a:rPr lang="en-US" dirty="0"/>
              <a:t>Both distributions for price and number of reviews are heavily right tailed with large amounts of outliers, which I wanted to keep due to the nature of the data </a:t>
            </a:r>
          </a:p>
          <a:p>
            <a:endParaRPr lang="en-US" dirty="0"/>
          </a:p>
          <a:p>
            <a:r>
              <a:rPr lang="en-US" dirty="0"/>
              <a:t>The other features were fairly distributed and raised no concerns.</a:t>
            </a:r>
          </a:p>
          <a:p>
            <a:endParaRPr lang="en-US" dirty="0"/>
          </a:p>
          <a:p>
            <a:endParaRPr lang="en-US" dirty="0"/>
          </a:p>
        </p:txBody>
      </p:sp>
      <p:pic>
        <p:nvPicPr>
          <p:cNvPr id="5" name="Picture 4">
            <a:extLst>
              <a:ext uri="{FF2B5EF4-FFF2-40B4-BE49-F238E27FC236}">
                <a16:creationId xmlns:a16="http://schemas.microsoft.com/office/drawing/2014/main" id="{53A80334-DD0C-117E-170F-97B5C3494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0436" y="1313827"/>
            <a:ext cx="5347704" cy="5347704"/>
          </a:xfrm>
          <a:prstGeom prst="rect">
            <a:avLst/>
          </a:prstGeom>
        </p:spPr>
      </p:pic>
    </p:spTree>
    <p:extLst>
      <p:ext uri="{BB962C8B-B14F-4D97-AF65-F5344CB8AC3E}">
        <p14:creationId xmlns:p14="http://schemas.microsoft.com/office/powerpoint/2010/main" val="373176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deal with that heavy right tail and outliers:</a:t>
            </a:r>
          </a:p>
        </p:txBody>
      </p:sp>
      <p:sp>
        <p:nvSpPr>
          <p:cNvPr id="3" name="Text Placeholder 2"/>
          <p:cNvSpPr>
            <a:spLocks noGrp="1"/>
          </p:cNvSpPr>
          <p:nvPr>
            <p:ph type="body" idx="1"/>
          </p:nvPr>
        </p:nvSpPr>
        <p:spPr>
          <a:xfrm>
            <a:off x="6094412" y="1524000"/>
            <a:ext cx="4701142" cy="4964709"/>
          </a:xfrm>
        </p:spPr>
        <p:txBody>
          <a:bodyPr/>
          <a:lstStyle/>
          <a:p>
            <a:r>
              <a:rPr lang="en-US" sz="2000" dirty="0"/>
              <a:t>I decided to transform my data with log transform, my intention was to create a more normal distribution, minimize the influence of the outliers and stabilize the data for more accurate analysis.</a:t>
            </a:r>
          </a:p>
          <a:p>
            <a:endParaRPr lang="en-US" sz="2000" dirty="0"/>
          </a:p>
          <a:p>
            <a:r>
              <a:rPr lang="en-US" sz="2000" dirty="0"/>
              <a:t>I created another visualization to ensure I got the results I wanted.</a:t>
            </a:r>
          </a:p>
          <a:p>
            <a:r>
              <a:rPr lang="en-US" sz="2000" dirty="0"/>
              <a:t>From the charts we have much more stabilized data to work with now.</a:t>
            </a:r>
          </a:p>
          <a:p>
            <a:endParaRPr lang="en-US" sz="2000" dirty="0"/>
          </a:p>
          <a:p>
            <a:r>
              <a:rPr lang="en-US" sz="2000" dirty="0"/>
              <a:t>Fun Fact - skewness comparison values (0 is best) for the price data went from 17.9 to 0.55! And Number of Reviews went from 3.2 to 0.06. </a:t>
            </a:r>
          </a:p>
          <a:p>
            <a:endParaRPr lang="en-US" dirty="0"/>
          </a:p>
          <a:p>
            <a:endParaRPr lang="en-US" dirty="0"/>
          </a:p>
        </p:txBody>
      </p:sp>
      <p:pic>
        <p:nvPicPr>
          <p:cNvPr id="8" name="Picture 7">
            <a:extLst>
              <a:ext uri="{FF2B5EF4-FFF2-40B4-BE49-F238E27FC236}">
                <a16:creationId xmlns:a16="http://schemas.microsoft.com/office/drawing/2014/main" id="{07264255-E0C3-4F52-F527-3F8B068B6D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19" y="1664173"/>
            <a:ext cx="4824536" cy="4824536"/>
          </a:xfrm>
          <a:prstGeom prst="rect">
            <a:avLst/>
          </a:prstGeom>
        </p:spPr>
      </p:pic>
    </p:spTree>
    <p:extLst>
      <p:ext uri="{BB962C8B-B14F-4D97-AF65-F5344CB8AC3E}">
        <p14:creationId xmlns:p14="http://schemas.microsoft.com/office/powerpoint/2010/main" val="94268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411240"/>
            <a:ext cx="9601200" cy="743744"/>
          </a:xfrm>
        </p:spPr>
        <p:txBody>
          <a:bodyPr>
            <a:normAutofit/>
          </a:bodyPr>
          <a:lstStyle/>
          <a:p>
            <a:r>
              <a:rPr lang="en-US" dirty="0"/>
              <a:t>Lets dig into exploratory data analysis</a:t>
            </a:r>
          </a:p>
        </p:txBody>
      </p:sp>
      <p:sp>
        <p:nvSpPr>
          <p:cNvPr id="3" name="TextBox 2">
            <a:extLst>
              <a:ext uri="{FF2B5EF4-FFF2-40B4-BE49-F238E27FC236}">
                <a16:creationId xmlns:a16="http://schemas.microsoft.com/office/drawing/2014/main" id="{0C62C3D6-E63D-24FC-B265-7BB32A7D924F}"/>
              </a:ext>
            </a:extLst>
          </p:cNvPr>
          <p:cNvSpPr txBox="1"/>
          <p:nvPr/>
        </p:nvSpPr>
        <p:spPr>
          <a:xfrm>
            <a:off x="1280085" y="2276872"/>
            <a:ext cx="4656584" cy="2834622"/>
          </a:xfrm>
          <a:prstGeom prst="rect">
            <a:avLst/>
          </a:prstGeom>
          <a:noFill/>
        </p:spPr>
        <p:txBody>
          <a:bodyPr wrap="square" rtlCol="0">
            <a:spAutoFit/>
          </a:bodyPr>
          <a:lstStyle/>
          <a:p>
            <a:pPr>
              <a:lnSpc>
                <a:spcPct val="90000"/>
              </a:lnSpc>
            </a:pPr>
            <a:r>
              <a:rPr lang="en-CA" dirty="0"/>
              <a:t>Here I began by plotting my scatter plots with trendlines.</a:t>
            </a:r>
          </a:p>
          <a:p>
            <a:pPr>
              <a:lnSpc>
                <a:spcPct val="90000"/>
              </a:lnSpc>
            </a:pPr>
            <a:endParaRPr lang="en-CA" dirty="0"/>
          </a:p>
          <a:p>
            <a:pPr>
              <a:lnSpc>
                <a:spcPct val="90000"/>
              </a:lnSpc>
            </a:pPr>
            <a:r>
              <a:rPr lang="en-CA" dirty="0"/>
              <a:t>For all of these comparisons (reference graphs), there is no evidence to support any strong correlations.</a:t>
            </a:r>
          </a:p>
          <a:p>
            <a:pPr>
              <a:lnSpc>
                <a:spcPct val="90000"/>
              </a:lnSpc>
            </a:pPr>
            <a:endParaRPr lang="en-CA" dirty="0"/>
          </a:p>
          <a:p>
            <a:pPr>
              <a:lnSpc>
                <a:spcPct val="90000"/>
              </a:lnSpc>
            </a:pPr>
            <a:r>
              <a:rPr lang="en-CA" dirty="0"/>
              <a:t>We can see this from our fairly horizontal blue trendline and our box like points.</a:t>
            </a:r>
          </a:p>
          <a:p>
            <a:pPr>
              <a:lnSpc>
                <a:spcPct val="90000"/>
              </a:lnSpc>
            </a:pPr>
            <a:endParaRPr lang="en-CA" dirty="0"/>
          </a:p>
          <a:p>
            <a:pPr>
              <a:lnSpc>
                <a:spcPct val="90000"/>
              </a:lnSpc>
            </a:pPr>
            <a:endParaRPr lang="en-CA" dirty="0"/>
          </a:p>
        </p:txBody>
      </p:sp>
      <p:pic>
        <p:nvPicPr>
          <p:cNvPr id="5" name="Picture 4">
            <a:extLst>
              <a:ext uri="{FF2B5EF4-FFF2-40B4-BE49-F238E27FC236}">
                <a16:creationId xmlns:a16="http://schemas.microsoft.com/office/drawing/2014/main" id="{3320F782-7D56-A383-B9BF-3E1C2588F4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8428" y="1700808"/>
            <a:ext cx="5222354" cy="4177883"/>
          </a:xfrm>
          <a:prstGeom prst="rect">
            <a:avLst/>
          </a:prstGeom>
        </p:spPr>
      </p:pic>
    </p:spTree>
    <p:extLst>
      <p:ext uri="{BB962C8B-B14F-4D97-AF65-F5344CB8AC3E}">
        <p14:creationId xmlns:p14="http://schemas.microsoft.com/office/powerpoint/2010/main" val="237837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6423-21B1-CF82-B832-BFE7D3C5D49A}"/>
              </a:ext>
            </a:extLst>
          </p:cNvPr>
          <p:cNvSpPr>
            <a:spLocks noGrp="1"/>
          </p:cNvSpPr>
          <p:nvPr>
            <p:ph type="title"/>
          </p:nvPr>
        </p:nvSpPr>
        <p:spPr>
          <a:xfrm>
            <a:off x="1293812" y="188640"/>
            <a:ext cx="9601200" cy="543272"/>
          </a:xfrm>
        </p:spPr>
        <p:txBody>
          <a:bodyPr>
            <a:normAutofit/>
          </a:bodyPr>
          <a:lstStyle/>
          <a:p>
            <a:pPr algn="ctr"/>
            <a:r>
              <a:rPr lang="en-CA" sz="2400" dirty="0"/>
              <a:t>Analyzing Number of Reviews:</a:t>
            </a:r>
          </a:p>
        </p:txBody>
      </p:sp>
      <p:sp>
        <p:nvSpPr>
          <p:cNvPr id="5" name="TextBox 4">
            <a:extLst>
              <a:ext uri="{FF2B5EF4-FFF2-40B4-BE49-F238E27FC236}">
                <a16:creationId xmlns:a16="http://schemas.microsoft.com/office/drawing/2014/main" id="{08E4D191-F4A9-993A-F2C4-52AD3BC8FCFB}"/>
              </a:ext>
            </a:extLst>
          </p:cNvPr>
          <p:cNvSpPr txBox="1"/>
          <p:nvPr/>
        </p:nvSpPr>
        <p:spPr>
          <a:xfrm>
            <a:off x="5678030" y="1102749"/>
            <a:ext cx="4968552" cy="2834622"/>
          </a:xfrm>
          <a:prstGeom prst="rect">
            <a:avLst/>
          </a:prstGeom>
          <a:noFill/>
        </p:spPr>
        <p:txBody>
          <a:bodyPr wrap="square" rtlCol="0">
            <a:spAutoFit/>
          </a:bodyPr>
          <a:lstStyle/>
          <a:p>
            <a:pPr>
              <a:lnSpc>
                <a:spcPct val="90000"/>
              </a:lnSpc>
            </a:pPr>
            <a:r>
              <a:rPr lang="en-CA" dirty="0"/>
              <a:t>This visualization shows us the number of reviews in reference to room type. From this we see that private rooms receive the highest amount of reviews, followed by entire homes and shared rooms receive the least amount. </a:t>
            </a:r>
          </a:p>
          <a:p>
            <a:pPr>
              <a:lnSpc>
                <a:spcPct val="90000"/>
              </a:lnSpc>
            </a:pPr>
            <a:endParaRPr lang="en-CA" dirty="0"/>
          </a:p>
          <a:p>
            <a:pPr marL="285750" indent="-285750">
              <a:lnSpc>
                <a:spcPct val="90000"/>
              </a:lnSpc>
              <a:buFont typeface="Wingdings" panose="05000000000000000000" pitchFamily="2" charset="2"/>
              <a:buChar char="§"/>
            </a:pPr>
            <a:r>
              <a:rPr lang="en-CA" dirty="0"/>
              <a:t>Further analysis point: we could dig deeper and find out why private rooms receive the highest number of reviews. i.e. – are these more frequently rented.</a:t>
            </a:r>
          </a:p>
          <a:p>
            <a:pPr>
              <a:lnSpc>
                <a:spcPct val="90000"/>
              </a:lnSpc>
            </a:pPr>
            <a:endParaRPr lang="en-CA" dirty="0"/>
          </a:p>
        </p:txBody>
      </p:sp>
      <p:pic>
        <p:nvPicPr>
          <p:cNvPr id="11" name="Picture 10">
            <a:extLst>
              <a:ext uri="{FF2B5EF4-FFF2-40B4-BE49-F238E27FC236}">
                <a16:creationId xmlns:a16="http://schemas.microsoft.com/office/drawing/2014/main" id="{8ABFCFB0-4CDA-6803-57BA-542499958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947" y="937186"/>
            <a:ext cx="3216991" cy="2834622"/>
          </a:xfrm>
          <a:prstGeom prst="rect">
            <a:avLst/>
          </a:prstGeom>
        </p:spPr>
      </p:pic>
      <p:pic>
        <p:nvPicPr>
          <p:cNvPr id="13" name="Picture 12">
            <a:extLst>
              <a:ext uri="{FF2B5EF4-FFF2-40B4-BE49-F238E27FC236}">
                <a16:creationId xmlns:a16="http://schemas.microsoft.com/office/drawing/2014/main" id="{1826F4BC-2053-5FE5-04C4-EA05384979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7948" y="3853635"/>
            <a:ext cx="3216991" cy="2843533"/>
          </a:xfrm>
          <a:prstGeom prst="rect">
            <a:avLst/>
          </a:prstGeom>
        </p:spPr>
      </p:pic>
      <p:cxnSp>
        <p:nvCxnSpPr>
          <p:cNvPr id="15" name="Straight Connector 14">
            <a:extLst>
              <a:ext uri="{FF2B5EF4-FFF2-40B4-BE49-F238E27FC236}">
                <a16:creationId xmlns:a16="http://schemas.microsoft.com/office/drawing/2014/main" id="{216DF118-0FC6-1D21-672F-3A55C0838D6D}"/>
              </a:ext>
            </a:extLst>
          </p:cNvPr>
          <p:cNvCxnSpPr/>
          <p:nvPr/>
        </p:nvCxnSpPr>
        <p:spPr>
          <a:xfrm>
            <a:off x="1917947" y="3853635"/>
            <a:ext cx="9649073"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77E8596-6AF6-1A00-C451-14008B49E26C}"/>
              </a:ext>
            </a:extLst>
          </p:cNvPr>
          <p:cNvCxnSpPr/>
          <p:nvPr/>
        </p:nvCxnSpPr>
        <p:spPr>
          <a:xfrm>
            <a:off x="1917947" y="937186"/>
            <a:ext cx="964907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E34CE89-BB24-7C77-B46E-D48C172A30A3}"/>
              </a:ext>
            </a:extLst>
          </p:cNvPr>
          <p:cNvSpPr txBox="1"/>
          <p:nvPr/>
        </p:nvSpPr>
        <p:spPr>
          <a:xfrm>
            <a:off x="5662364" y="4021107"/>
            <a:ext cx="5232648" cy="2585323"/>
          </a:xfrm>
          <a:prstGeom prst="rect">
            <a:avLst/>
          </a:prstGeom>
          <a:noFill/>
        </p:spPr>
        <p:txBody>
          <a:bodyPr wrap="square" rtlCol="0">
            <a:spAutoFit/>
          </a:bodyPr>
          <a:lstStyle/>
          <a:p>
            <a:pPr>
              <a:lnSpc>
                <a:spcPct val="90000"/>
              </a:lnSpc>
            </a:pPr>
            <a:r>
              <a:rPr lang="en-CA" dirty="0"/>
              <a:t>From our number of reviews across the neighborhood groups, Brooklyn takes the lead, followed by Staten Island, Queens, Bronx and Manhattan having the least amount of reviews.</a:t>
            </a:r>
          </a:p>
          <a:p>
            <a:pPr>
              <a:lnSpc>
                <a:spcPct val="90000"/>
              </a:lnSpc>
            </a:pPr>
            <a:endParaRPr lang="en-CA" dirty="0"/>
          </a:p>
          <a:p>
            <a:pPr marL="285750" indent="-285750">
              <a:lnSpc>
                <a:spcPct val="90000"/>
              </a:lnSpc>
              <a:buFont typeface="Arial" panose="020B0604020202020204" pitchFamily="34" charset="0"/>
              <a:buChar char="•"/>
            </a:pPr>
            <a:r>
              <a:rPr lang="en-CA" dirty="0"/>
              <a:t>Further analysis point: we could also dig in deeper to analyze the why of these results. I found it intriguing that Manhattan came in at the lowest but it is the more in demand and centralized location.</a:t>
            </a:r>
          </a:p>
        </p:txBody>
      </p:sp>
    </p:spTree>
    <p:extLst>
      <p:ext uri="{BB962C8B-B14F-4D97-AF65-F5344CB8AC3E}">
        <p14:creationId xmlns:p14="http://schemas.microsoft.com/office/powerpoint/2010/main" val="97755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29F33C-C88F-4C55-9C8D-CB09FA4B0300}"/>
              </a:ext>
            </a:extLst>
          </p:cNvPr>
          <p:cNvSpPr txBox="1"/>
          <p:nvPr/>
        </p:nvSpPr>
        <p:spPr>
          <a:xfrm>
            <a:off x="729816" y="260241"/>
            <a:ext cx="10297144" cy="424732"/>
          </a:xfrm>
          <a:prstGeom prst="rect">
            <a:avLst/>
          </a:prstGeom>
          <a:noFill/>
        </p:spPr>
        <p:txBody>
          <a:bodyPr wrap="square" rtlCol="0">
            <a:spAutoFit/>
          </a:bodyPr>
          <a:lstStyle/>
          <a:p>
            <a:pPr algn="ctr">
              <a:lnSpc>
                <a:spcPct val="90000"/>
              </a:lnSpc>
            </a:pPr>
            <a:r>
              <a:rPr lang="en-CA" sz="2400" u="sng" dirty="0"/>
              <a:t>Now lets check out our categorical data with bar charts</a:t>
            </a:r>
            <a:r>
              <a:rPr lang="en-CA" sz="2400" dirty="0"/>
              <a:t>:</a:t>
            </a:r>
          </a:p>
        </p:txBody>
      </p:sp>
      <p:sp>
        <p:nvSpPr>
          <p:cNvPr id="3" name="TextBox 2">
            <a:extLst>
              <a:ext uri="{FF2B5EF4-FFF2-40B4-BE49-F238E27FC236}">
                <a16:creationId xmlns:a16="http://schemas.microsoft.com/office/drawing/2014/main" id="{93E03F06-1CFB-EDB5-7882-7499F12140BC}"/>
              </a:ext>
            </a:extLst>
          </p:cNvPr>
          <p:cNvSpPr txBox="1"/>
          <p:nvPr/>
        </p:nvSpPr>
        <p:spPr>
          <a:xfrm>
            <a:off x="905228" y="934094"/>
            <a:ext cx="4016221" cy="2086725"/>
          </a:xfrm>
          <a:prstGeom prst="rect">
            <a:avLst/>
          </a:prstGeom>
          <a:noFill/>
        </p:spPr>
        <p:txBody>
          <a:bodyPr wrap="square" rtlCol="0">
            <a:spAutoFit/>
          </a:bodyPr>
          <a:lstStyle/>
          <a:p>
            <a:pPr>
              <a:lnSpc>
                <a:spcPct val="90000"/>
              </a:lnSpc>
            </a:pPr>
            <a:r>
              <a:rPr lang="en-CA" sz="1600" dirty="0"/>
              <a:t>I created this chart by grouping my values into the different room parts. From the chart we can see that the average price is highest for an entire house/apt, followed by private rooms and the lowest prices being from shared rooms. This analysis supports the assumption that entire homes would cost more than its smaller accommodations.</a:t>
            </a:r>
          </a:p>
        </p:txBody>
      </p:sp>
      <p:sp>
        <p:nvSpPr>
          <p:cNvPr id="6" name="TextBox 5">
            <a:extLst>
              <a:ext uri="{FF2B5EF4-FFF2-40B4-BE49-F238E27FC236}">
                <a16:creationId xmlns:a16="http://schemas.microsoft.com/office/drawing/2014/main" id="{3D4B253C-01EB-4CE2-88CE-8E26312A4126}"/>
              </a:ext>
            </a:extLst>
          </p:cNvPr>
          <p:cNvSpPr txBox="1"/>
          <p:nvPr/>
        </p:nvSpPr>
        <p:spPr>
          <a:xfrm>
            <a:off x="6703736" y="934094"/>
            <a:ext cx="4500500" cy="2308324"/>
          </a:xfrm>
          <a:prstGeom prst="rect">
            <a:avLst/>
          </a:prstGeom>
          <a:noFill/>
        </p:spPr>
        <p:txBody>
          <a:bodyPr wrap="square" rtlCol="0">
            <a:spAutoFit/>
          </a:bodyPr>
          <a:lstStyle/>
          <a:p>
            <a:pPr>
              <a:lnSpc>
                <a:spcPct val="90000"/>
              </a:lnSpc>
            </a:pPr>
            <a:r>
              <a:rPr lang="en-CA" sz="1600" dirty="0"/>
              <a:t>I also created the Neighborhood/Price chart by grouping the data into the 5 different neighborhood sections. We can see that Manhattan takes the lead with the highest average price, followed by Brooklyn, Queens, Staten Island and lastly the Bronx. This analysis supports assumptions that prices tend to be higher in more central and in demand areas compared to its surrounding areas.</a:t>
            </a:r>
          </a:p>
        </p:txBody>
      </p:sp>
      <p:pic>
        <p:nvPicPr>
          <p:cNvPr id="8" name="Picture 7">
            <a:extLst>
              <a:ext uri="{FF2B5EF4-FFF2-40B4-BE49-F238E27FC236}">
                <a16:creationId xmlns:a16="http://schemas.microsoft.com/office/drawing/2014/main" id="{3E3ED31B-E189-FE60-A0D7-20C505601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078" y="3361985"/>
            <a:ext cx="4680520" cy="3235774"/>
          </a:xfrm>
          <a:prstGeom prst="rect">
            <a:avLst/>
          </a:prstGeom>
        </p:spPr>
      </p:pic>
      <p:pic>
        <p:nvPicPr>
          <p:cNvPr id="10" name="Picture 9">
            <a:extLst>
              <a:ext uri="{FF2B5EF4-FFF2-40B4-BE49-F238E27FC236}">
                <a16:creationId xmlns:a16="http://schemas.microsoft.com/office/drawing/2014/main" id="{B669E04E-7ECA-671B-B80A-15F9EC85A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3726" y="3343582"/>
            <a:ext cx="4680520" cy="3226757"/>
          </a:xfrm>
          <a:prstGeom prst="rect">
            <a:avLst/>
          </a:prstGeom>
        </p:spPr>
      </p:pic>
      <p:cxnSp>
        <p:nvCxnSpPr>
          <p:cNvPr id="12" name="Straight Connector 11">
            <a:extLst>
              <a:ext uri="{FF2B5EF4-FFF2-40B4-BE49-F238E27FC236}">
                <a16:creationId xmlns:a16="http://schemas.microsoft.com/office/drawing/2014/main" id="{95330979-4367-E26A-AE84-6E373542ABC6}"/>
              </a:ext>
            </a:extLst>
          </p:cNvPr>
          <p:cNvCxnSpPr>
            <a:cxnSpLocks/>
          </p:cNvCxnSpPr>
          <p:nvPr/>
        </p:nvCxnSpPr>
        <p:spPr>
          <a:xfrm>
            <a:off x="5878388" y="934094"/>
            <a:ext cx="0" cy="5663665"/>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031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CE1CE8-1415-AA7F-61F6-A42CAAF42DA4}"/>
              </a:ext>
            </a:extLst>
          </p:cNvPr>
          <p:cNvSpPr txBox="1"/>
          <p:nvPr/>
        </p:nvSpPr>
        <p:spPr>
          <a:xfrm>
            <a:off x="1053852" y="556224"/>
            <a:ext cx="10081120" cy="646331"/>
          </a:xfrm>
          <a:prstGeom prst="rect">
            <a:avLst/>
          </a:prstGeom>
          <a:noFill/>
        </p:spPr>
        <p:txBody>
          <a:bodyPr wrap="square" rtlCol="0">
            <a:spAutoFit/>
          </a:bodyPr>
          <a:lstStyle/>
          <a:p>
            <a:pPr>
              <a:lnSpc>
                <a:spcPct val="90000"/>
              </a:lnSpc>
            </a:pPr>
            <a:r>
              <a:rPr lang="en-CA" sz="2000" dirty="0"/>
              <a:t>Lets conclude the EDA with the fun part! Seeing if we can predict Room Type from Price and Neighborhood and evaluating how well our machine models worked.</a:t>
            </a:r>
          </a:p>
        </p:txBody>
      </p:sp>
      <p:pic>
        <p:nvPicPr>
          <p:cNvPr id="5" name="Picture 4">
            <a:extLst>
              <a:ext uri="{FF2B5EF4-FFF2-40B4-BE49-F238E27FC236}">
                <a16:creationId xmlns:a16="http://schemas.microsoft.com/office/drawing/2014/main" id="{0A8C500A-020E-2A0C-9B87-309907C46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2684" y="2276872"/>
            <a:ext cx="2429214" cy="2762636"/>
          </a:xfrm>
          <a:prstGeom prst="rect">
            <a:avLst/>
          </a:prstGeom>
        </p:spPr>
      </p:pic>
      <p:sp>
        <p:nvSpPr>
          <p:cNvPr id="6" name="TextBox 5">
            <a:extLst>
              <a:ext uri="{FF2B5EF4-FFF2-40B4-BE49-F238E27FC236}">
                <a16:creationId xmlns:a16="http://schemas.microsoft.com/office/drawing/2014/main" id="{303056CF-4DDE-D4C8-848B-FA751ECDA8C2}"/>
              </a:ext>
            </a:extLst>
          </p:cNvPr>
          <p:cNvSpPr txBox="1"/>
          <p:nvPr/>
        </p:nvSpPr>
        <p:spPr>
          <a:xfrm>
            <a:off x="1048975" y="1484784"/>
            <a:ext cx="6552728" cy="4829014"/>
          </a:xfrm>
          <a:prstGeom prst="rect">
            <a:avLst/>
          </a:prstGeom>
          <a:noFill/>
        </p:spPr>
        <p:txBody>
          <a:bodyPr wrap="square" rtlCol="0">
            <a:spAutoFit/>
          </a:bodyPr>
          <a:lstStyle/>
          <a:p>
            <a:pPr>
              <a:lnSpc>
                <a:spcPct val="90000"/>
              </a:lnSpc>
            </a:pPr>
            <a:r>
              <a:rPr lang="en-CA" dirty="0"/>
              <a:t>I compared the Decision Tree Classifier, Logistic Regression model and Random Forest Classifier. I loaded from </a:t>
            </a:r>
            <a:r>
              <a:rPr lang="en-CA" dirty="0" err="1"/>
              <a:t>sklearn</a:t>
            </a:r>
            <a:r>
              <a:rPr lang="en-CA" dirty="0"/>
              <a:t>, defined my variables, encoded the categorical variables, split the data into train and test. Then trained the models, tested them and evaluated them.</a:t>
            </a:r>
          </a:p>
          <a:p>
            <a:pPr>
              <a:lnSpc>
                <a:spcPct val="90000"/>
              </a:lnSpc>
            </a:pPr>
            <a:endParaRPr lang="en-CA" dirty="0"/>
          </a:p>
          <a:p>
            <a:pPr>
              <a:lnSpc>
                <a:spcPct val="90000"/>
              </a:lnSpc>
            </a:pPr>
            <a:r>
              <a:rPr lang="en-CA" dirty="0"/>
              <a:t>Overall accuracy of these models was similar at about 80%. The models predicted entire home section very well, followed by private room predictions but honestly failed terribly predicting shared room portion.</a:t>
            </a:r>
          </a:p>
          <a:p>
            <a:pPr>
              <a:lnSpc>
                <a:spcPct val="90000"/>
              </a:lnSpc>
            </a:pPr>
            <a:endParaRPr lang="en-CA" dirty="0"/>
          </a:p>
          <a:p>
            <a:pPr>
              <a:lnSpc>
                <a:spcPct val="90000"/>
              </a:lnSpc>
            </a:pPr>
            <a:r>
              <a:rPr lang="en-CA" dirty="0"/>
              <a:t>I believe this to be because of an imbalance of data. Shared rooms had a much lower value count compared to entire home and private room value counts. </a:t>
            </a:r>
          </a:p>
          <a:p>
            <a:pPr>
              <a:lnSpc>
                <a:spcPct val="90000"/>
              </a:lnSpc>
            </a:pPr>
            <a:endParaRPr lang="en-CA" dirty="0"/>
          </a:p>
          <a:p>
            <a:pPr>
              <a:lnSpc>
                <a:spcPct val="90000"/>
              </a:lnSpc>
            </a:pPr>
            <a:r>
              <a:rPr lang="en-CA" dirty="0"/>
              <a:t>Because of the similar performances, I conclude that there needs to be more data or features to predict room type accurately. Price and neighborhood are not the only things to consider.</a:t>
            </a:r>
          </a:p>
        </p:txBody>
      </p:sp>
    </p:spTree>
    <p:extLst>
      <p:ext uri="{BB962C8B-B14F-4D97-AF65-F5344CB8AC3E}">
        <p14:creationId xmlns:p14="http://schemas.microsoft.com/office/powerpoint/2010/main" val="161459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7868" y="367981"/>
            <a:ext cx="10201199" cy="564232"/>
          </a:xfrm>
        </p:spPr>
        <p:txBody>
          <a:bodyPr/>
          <a:lstStyle/>
          <a:p>
            <a:pPr marL="0" indent="0">
              <a:buNone/>
            </a:pPr>
            <a:r>
              <a:rPr lang="en-US" dirty="0"/>
              <a:t>What does this all mean?</a:t>
            </a:r>
          </a:p>
        </p:txBody>
      </p:sp>
      <p:sp>
        <p:nvSpPr>
          <p:cNvPr id="4" name="Text Placeholder 3"/>
          <p:cNvSpPr>
            <a:spLocks noGrp="1"/>
          </p:cNvSpPr>
          <p:nvPr>
            <p:ph type="body" sz="half" idx="2"/>
          </p:nvPr>
        </p:nvSpPr>
        <p:spPr>
          <a:xfrm>
            <a:off x="1341883" y="924928"/>
            <a:ext cx="10057183" cy="5816440"/>
          </a:xfrm>
        </p:spPr>
        <p:txBody>
          <a:bodyPr>
            <a:normAutofit/>
          </a:bodyPr>
          <a:lstStyle/>
          <a:p>
            <a:r>
              <a:rPr lang="en-US" dirty="0"/>
              <a:t>Back to our original question now that you have had the tour. How does the number of reviews relate to the price, availability, or other features of the listing?</a:t>
            </a:r>
          </a:p>
          <a:p>
            <a:r>
              <a:rPr lang="en-US" dirty="0"/>
              <a:t>From our scatter plots that show us patterns and relationships, I conclude that availability and number of reviews has a very weak relation to the price. There is also enough evidence to conclude that availability has a very weak relation to the number of reviews.</a:t>
            </a:r>
          </a:p>
          <a:p>
            <a:r>
              <a:rPr lang="en-US" dirty="0"/>
              <a:t>I can also conclude from our bar charts that there is evidence to support that location and room type may reflect the price of the listing. Although from our prediction models, I would suggest further analysis to check other factors that would reflect the price of the listing as well.</a:t>
            </a:r>
          </a:p>
          <a:p>
            <a:endParaRPr lang="en-US" dirty="0"/>
          </a:p>
          <a:p>
            <a:endParaRPr lang="en-US" dirty="0"/>
          </a:p>
          <a:p>
            <a:r>
              <a:rPr lang="en-US" u="sng" dirty="0"/>
              <a:t>Next Steps:</a:t>
            </a:r>
          </a:p>
          <a:p>
            <a:r>
              <a:rPr lang="en-US" dirty="0"/>
              <a:t>I would dive into the popularity of these listings, I would want to know if the cheaper shared rooms are more popular than entire homes. Do more people stay in the centralized locations compared to the surrounding areas. What are the types of groups staying in these places, are they families, couples, work related, leisure. Sometimes with an extensive opportunity like this the curiosity just never seems to end!</a:t>
            </a:r>
          </a:p>
          <a:p>
            <a:endParaRPr lang="en-US" dirty="0"/>
          </a:p>
          <a:p>
            <a:endParaRPr lang="en-US" dirty="0"/>
          </a:p>
        </p:txBody>
      </p:sp>
    </p:spTree>
    <p:extLst>
      <p:ext uri="{BB962C8B-B14F-4D97-AF65-F5344CB8AC3E}">
        <p14:creationId xmlns:p14="http://schemas.microsoft.com/office/powerpoint/2010/main" val="136534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E8ADA6-E57D-8453-FC37-762FFAFFF2EC}"/>
              </a:ext>
            </a:extLst>
          </p:cNvPr>
          <p:cNvSpPr txBox="1"/>
          <p:nvPr/>
        </p:nvSpPr>
        <p:spPr>
          <a:xfrm>
            <a:off x="1701924" y="404664"/>
            <a:ext cx="8424936" cy="341632"/>
          </a:xfrm>
          <a:prstGeom prst="rect">
            <a:avLst/>
          </a:prstGeom>
          <a:noFill/>
        </p:spPr>
        <p:txBody>
          <a:bodyPr wrap="square" rtlCol="0">
            <a:spAutoFit/>
          </a:bodyPr>
          <a:lstStyle/>
          <a:p>
            <a:pPr>
              <a:lnSpc>
                <a:spcPct val="90000"/>
              </a:lnSpc>
            </a:pPr>
            <a:r>
              <a:rPr lang="en-CA" b="1" u="sng" dirty="0"/>
              <a:t>Project Reflection</a:t>
            </a:r>
          </a:p>
        </p:txBody>
      </p:sp>
      <p:sp>
        <p:nvSpPr>
          <p:cNvPr id="7" name="TextBox 6">
            <a:extLst>
              <a:ext uri="{FF2B5EF4-FFF2-40B4-BE49-F238E27FC236}">
                <a16:creationId xmlns:a16="http://schemas.microsoft.com/office/drawing/2014/main" id="{5B5F75A1-E3FF-9B2C-B854-5232B9D9308A}"/>
              </a:ext>
            </a:extLst>
          </p:cNvPr>
          <p:cNvSpPr txBox="1"/>
          <p:nvPr/>
        </p:nvSpPr>
        <p:spPr>
          <a:xfrm>
            <a:off x="1557908" y="1052736"/>
            <a:ext cx="9073008" cy="5327612"/>
          </a:xfrm>
          <a:prstGeom prst="rect">
            <a:avLst/>
          </a:prstGeom>
          <a:noFill/>
        </p:spPr>
        <p:txBody>
          <a:bodyPr wrap="square" rtlCol="0">
            <a:spAutoFit/>
          </a:bodyPr>
          <a:lstStyle/>
          <a:p>
            <a:pPr>
              <a:lnSpc>
                <a:spcPct val="90000"/>
              </a:lnSpc>
            </a:pPr>
            <a:r>
              <a:rPr lang="en-CA" dirty="0"/>
              <a:t>	I really enjoyed this project, it was a great mix of numerical and categorical data. Some relationships surprised me and the data intrigued me. I learned a lot and there is still a lot more to learn! That seems to be the beauty of analysis. I found this project helped me in creating my individuality for the analysis process. Some methods I chose I’m sure seem repetitive to advanced analysis, but I assure you the repetitiveness was intended for memory purposes. </a:t>
            </a:r>
          </a:p>
          <a:p>
            <a:pPr>
              <a:lnSpc>
                <a:spcPct val="90000"/>
              </a:lnSpc>
            </a:pPr>
            <a:r>
              <a:rPr lang="en-CA" dirty="0"/>
              <a:t>	In the process I found myself doing one thing only to realize I forgot another and go back and redo, great way to remember is when you have to redo something because you forgot! </a:t>
            </a:r>
          </a:p>
          <a:p>
            <a:pPr>
              <a:lnSpc>
                <a:spcPct val="90000"/>
              </a:lnSpc>
            </a:pPr>
            <a:r>
              <a:rPr lang="en-CA" dirty="0"/>
              <a:t>	I enjoy projects like these as it is my best way to learn. I was given a new tool belt with lots of new tools these past few months and it was very satisfying to finally get to use them. I felt like I understood the concepts but now I understand how to use them.</a:t>
            </a:r>
          </a:p>
          <a:p>
            <a:pPr>
              <a:lnSpc>
                <a:spcPct val="90000"/>
              </a:lnSpc>
            </a:pPr>
            <a:r>
              <a:rPr lang="en-CA" dirty="0"/>
              <a:t>	I’m sure the skills I need are still vast, but my goal right now is code memory and just familiarizing myself with what to type and memorizing the language so I can recall it better. As well as interpretations, sometimes things are hard to interpret, especially if you’ve never seen them before so they really make you think.</a:t>
            </a:r>
          </a:p>
          <a:p>
            <a:pPr>
              <a:lnSpc>
                <a:spcPct val="90000"/>
              </a:lnSpc>
            </a:pPr>
            <a:r>
              <a:rPr lang="en-CA" dirty="0"/>
              <a:t>	This was a great experience and I find with every assignment and project I complete, I learn more, especially from my mistakes and error codes! Every time I start the process though, I find there is a new section that comes straight from memory and not referencing my notes and demos helping to build my confidence.</a:t>
            </a:r>
          </a:p>
        </p:txBody>
      </p:sp>
    </p:spTree>
    <p:extLst>
      <p:ext uri="{BB962C8B-B14F-4D97-AF65-F5344CB8AC3E}">
        <p14:creationId xmlns:p14="http://schemas.microsoft.com/office/powerpoint/2010/main" val="2769088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3C0D39-80B3-7E43-E755-24B8F813D676}"/>
              </a:ext>
            </a:extLst>
          </p:cNvPr>
          <p:cNvSpPr txBox="1"/>
          <p:nvPr/>
        </p:nvSpPr>
        <p:spPr>
          <a:xfrm>
            <a:off x="2349996" y="908720"/>
            <a:ext cx="8424936" cy="2862322"/>
          </a:xfrm>
          <a:prstGeom prst="rect">
            <a:avLst/>
          </a:prstGeom>
          <a:noFill/>
        </p:spPr>
        <p:txBody>
          <a:bodyPr wrap="square" rtlCol="0">
            <a:spAutoFit/>
          </a:bodyPr>
          <a:lstStyle/>
          <a:p>
            <a:pPr algn="ctr">
              <a:lnSpc>
                <a:spcPct val="90000"/>
              </a:lnSpc>
            </a:pPr>
            <a:r>
              <a:rPr lang="en-CA" sz="4000" dirty="0"/>
              <a:t>Thank you for taking the tour of my analysis process!</a:t>
            </a:r>
          </a:p>
          <a:p>
            <a:pPr algn="ctr">
              <a:lnSpc>
                <a:spcPct val="90000"/>
              </a:lnSpc>
            </a:pPr>
            <a:endParaRPr lang="en-CA" sz="4000" dirty="0"/>
          </a:p>
          <a:p>
            <a:pPr algn="ctr">
              <a:lnSpc>
                <a:spcPct val="90000"/>
              </a:lnSpc>
            </a:pPr>
            <a:endParaRPr lang="en-CA" sz="4000" dirty="0"/>
          </a:p>
          <a:p>
            <a:pPr algn="ctr">
              <a:lnSpc>
                <a:spcPct val="90000"/>
              </a:lnSpc>
            </a:pPr>
            <a:r>
              <a:rPr lang="en-CA" sz="4000" dirty="0"/>
              <a:t>THE END!</a:t>
            </a:r>
          </a:p>
        </p:txBody>
      </p:sp>
    </p:spTree>
    <p:extLst>
      <p:ext uri="{BB962C8B-B14F-4D97-AF65-F5344CB8AC3E}">
        <p14:creationId xmlns:p14="http://schemas.microsoft.com/office/powerpoint/2010/main" val="72167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erenity 16x9">
  <a:themeElements>
    <a:clrScheme name="Serenity_16x9">
      <a:dk1>
        <a:srgbClr val="164B4F"/>
      </a:dk1>
      <a:lt1>
        <a:sysClr val="window" lastClr="FFFFFF"/>
      </a:lt1>
      <a:dk2>
        <a:srgbClr val="000000"/>
      </a:dk2>
      <a:lt2>
        <a:srgbClr val="C5E5EC"/>
      </a:lt2>
      <a:accent1>
        <a:srgbClr val="1B91A1"/>
      </a:accent1>
      <a:accent2>
        <a:srgbClr val="46AC6F"/>
      </a:accent2>
      <a:accent3>
        <a:srgbClr val="37AFD5"/>
      </a:accent3>
      <a:accent4>
        <a:srgbClr val="6786A9"/>
      </a:accent4>
      <a:accent5>
        <a:srgbClr val="90A693"/>
      </a:accent5>
      <a:accent6>
        <a:srgbClr val="389066"/>
      </a:accent6>
      <a:hlink>
        <a:srgbClr val="27A99A"/>
      </a:hlink>
      <a:folHlink>
        <a:srgbClr val="94AE9D"/>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a:defPPr>
      </a:lstStyle>
    </a:txDef>
  </a:objectDefaults>
  <a:extraClrSchemeLst/>
  <a:extLst>
    <a:ext uri="{05A4C25C-085E-4340-85A3-A5531E510DB2}">
      <thm15:themeFamily xmlns:thm15="http://schemas.microsoft.com/office/thememl/2012/main" name="TF02801109.potx" id="{B47C65E8-9F73-4C4F-A3C2-84725F71438E}" vid="{CFC30A9F-F7E5-41F4-B6B7-D2E5B79E3BFB}"/>
    </a:ext>
  </a:extLst>
</a:theme>
</file>

<file path=ppt/theme/theme2.xml><?xml version="1.0" encoding="utf-8"?>
<a:theme xmlns:a="http://schemas.openxmlformats.org/drawingml/2006/main" name="Office Theme">
  <a:themeElements>
    <a:clrScheme name="Serenity">
      <a:dk1>
        <a:srgbClr val="164B4F"/>
      </a:dk1>
      <a:lt1>
        <a:sysClr val="window" lastClr="FFFFFF"/>
      </a:lt1>
      <a:dk2>
        <a:srgbClr val="000000"/>
      </a:dk2>
      <a:lt2>
        <a:srgbClr val="C5E5EC"/>
      </a:lt2>
      <a:accent1>
        <a:srgbClr val="1B91A1"/>
      </a:accent1>
      <a:accent2>
        <a:srgbClr val="46AC6F"/>
      </a:accent2>
      <a:accent3>
        <a:srgbClr val="37AFD5"/>
      </a:accent3>
      <a:accent4>
        <a:srgbClr val="6786A9"/>
      </a:accent4>
      <a:accent5>
        <a:srgbClr val="90A693"/>
      </a:accent5>
      <a:accent6>
        <a:srgbClr val="389066"/>
      </a:accent6>
      <a:hlink>
        <a:srgbClr val="27A99A"/>
      </a:hlink>
      <a:folHlink>
        <a:srgbClr val="94AE9D"/>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Serenity">
      <a:dk1>
        <a:srgbClr val="164B4F"/>
      </a:dk1>
      <a:lt1>
        <a:sysClr val="window" lastClr="FFFFFF"/>
      </a:lt1>
      <a:dk2>
        <a:srgbClr val="000000"/>
      </a:dk2>
      <a:lt2>
        <a:srgbClr val="C5E5EC"/>
      </a:lt2>
      <a:accent1>
        <a:srgbClr val="1B91A1"/>
      </a:accent1>
      <a:accent2>
        <a:srgbClr val="46AC6F"/>
      </a:accent2>
      <a:accent3>
        <a:srgbClr val="37AFD5"/>
      </a:accent3>
      <a:accent4>
        <a:srgbClr val="6786A9"/>
      </a:accent4>
      <a:accent5>
        <a:srgbClr val="90A693"/>
      </a:accent5>
      <a:accent6>
        <a:srgbClr val="389066"/>
      </a:accent6>
      <a:hlink>
        <a:srgbClr val="27A99A"/>
      </a:hlink>
      <a:folHlink>
        <a:srgbClr val="94AE9D"/>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1360506</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2011-12-12T13:37:00+00:00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TP102801108</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706526</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REDMOND\v-soujap</DisplayName>
        <AccountId>1954</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249165-F638-412C-8E0A-DFB7045CA2E0}">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211E33DF-2340-4F4E-B874-B73FEFEBFC8D}">
  <ds:schemaRefs>
    <ds:schemaRef ds:uri="http://schemas.microsoft.com/sharepoint/v3/contenttype/forms"/>
  </ds:schemaRefs>
</ds:datastoreItem>
</file>

<file path=customXml/itemProps3.xml><?xml version="1.0" encoding="utf-8"?>
<ds:datastoreItem xmlns:ds="http://schemas.openxmlformats.org/officeDocument/2006/customXml" ds:itemID="{4683C129-7B42-490A-AD74-E9303BC76D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Serenity nature presentation (widescreen)</Template>
  <TotalTime>204</TotalTime>
  <Words>1446</Words>
  <Application>Microsoft Office PowerPoint</Application>
  <PresentationFormat>Custom</PresentationFormat>
  <Paragraphs>82</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Euphemia</vt:lpstr>
      <vt:lpstr>Wingdings</vt:lpstr>
      <vt:lpstr>Serenity 16x9</vt:lpstr>
      <vt:lpstr>Data Analysis Process Project</vt:lpstr>
      <vt:lpstr>I will guide you through my analysis process of Airbnb activity in New York City.</vt:lpstr>
      <vt:lpstr>Let us begin with our question:</vt:lpstr>
      <vt:lpstr>Data Inspection:</vt:lpstr>
      <vt:lpstr>Data Cleaning</vt:lpstr>
      <vt:lpstr>Univariate analysis:  </vt:lpstr>
      <vt:lpstr>Lets deal with that heavy right tail and outliers:</vt:lpstr>
      <vt:lpstr>Lets dig into exploratory data analysis</vt:lpstr>
      <vt:lpstr>Analyzing Number of Reviews: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Hollie.Whitehead-Anthony</dc:creator>
  <cp:lastModifiedBy>Hollie.Whitehead-Anthony</cp:lastModifiedBy>
  <cp:revision>1</cp:revision>
  <dcterms:created xsi:type="dcterms:W3CDTF">2026-04-26T01:05:02Z</dcterms:created>
  <dcterms:modified xsi:type="dcterms:W3CDTF">2026-04-27T01:43:15Z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